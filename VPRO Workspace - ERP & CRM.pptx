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762afc00-242d-40fc-b262-cb92539a9436.fntdata" /><ns0:Relationship Id="rIdFont14" Type="http://schemas.openxmlformats.org/officeDocument/2006/relationships/font" Target="fonts/6f0a7c5e-367e-40af-9d90-db2d661aed6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768155"/>
            <a:ext cx="762000" cy="57150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32694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EFF9A"/>
                </a:solidFill>
                <a:latin typeface="Inter"/>
              </a:rPr>
              <a:t>VISIÓN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51794"/>
            <a:ext cx="11251406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Inter"/>
              </a:rPr>
              <a:t>VPRO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18594"/>
            <a:ext cx="8101012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b="0" sz="2400" i="0" u="none">
                <a:solidFill>
                  <a:srgbClr val="94A3B8"/>
                </a:solidFill>
                <a:latin typeface="Inter"/>
              </a:rPr>
              <a:t>ERP Vertical para producción audiovisual con módulo CRM integrado.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1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1100"/>
            <a:ext cx="6100762" cy="567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00762" y="1181100"/>
            <a:ext cx="6091237" cy="5676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1237" y="1181100"/>
            <a:ext cx="9525" cy="567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57662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3866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1966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415766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453866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4919662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La Diferencia Fundamental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319337"/>
            <a:ext cx="6090046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Inter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14737"/>
            <a:ext cx="63945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Módulo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0362" y="2319337"/>
            <a:ext cx="5481637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Inter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0362" y="3614737"/>
            <a:ext cx="54816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Núcleo ERP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4119562"/>
            <a:ext cx="58423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Enfoque hacia afuera.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4500562"/>
            <a:ext cx="58423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Captación de prospectos.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4881562"/>
            <a:ext cx="58423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Cierre de ventas.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012" y="4119562"/>
            <a:ext cx="523398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Operación interna.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012" y="4500562"/>
            <a:ext cx="523398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Logística de campo.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012" y="4881562"/>
            <a:ext cx="523398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Control financiero.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6676"/>
            <a:ext cx="3454449" cy="2356246"/>
          </a:xfrm>
          <a:prstGeom prst="roundRect">
            <a:avLst>
              <a:gd name="adj" fmla="val 64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36676"/>
            <a:ext cx="3454449" cy="2356246"/>
          </a:xfrm>
          <a:prstGeom prst="roundRect">
            <a:avLst>
              <a:gd name="adj" fmla="val 64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36676"/>
            <a:ext cx="3454449" cy="2356246"/>
          </a:xfrm>
          <a:prstGeom prst="roundRect">
            <a:avLst>
              <a:gd name="adj" fmla="val 64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317676"/>
            <a:ext cx="2692449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49" y="3317676"/>
            <a:ext cx="2692449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99" y="3317676"/>
            <a:ext cx="2692449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FASE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14400"/>
            <a:ext cx="100012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El Alcance del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92727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Reuniones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355901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Minutas de juntas.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672012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Registro de necesidades.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849" y="392727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Directorio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849" y="4355901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Fichas de contacto.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849" y="4672012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Datos fiscales.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99" y="3927276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Cotizador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99" y="4355901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Propuestas económicas.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99" y="4672012"/>
            <a:ext cx="33655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Presupuestos al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420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2420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5147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35147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5147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187" y="3648075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087" y="3648075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262" y="3648075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EL NÚCLEO DEL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144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Fase Operativa: ERP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200525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Control maestro de equipos.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514850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Radar de daños técnicos.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3925" y="4200525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Órdenes de Producción (OP).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3925" y="4514850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Checkout y retornos.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725" y="4200525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Asignación vehicular.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725" y="4514850"/>
            <a:ext cx="3405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Bitácora de odómetros.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725" y="3619500"/>
            <a:ext cx="1400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Inventario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3525" y="3619500"/>
            <a:ext cx="155019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Producción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7325" y="3619500"/>
            <a:ext cx="84010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Flota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33725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33725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5147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5147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5147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364807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937" y="364807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550" y="364807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EL NÚCLEO DEL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144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Fase Administrativa: ERP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200525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Balance financiero.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514850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Auditoría de viáticos.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4200525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Reloj checador QR.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4514850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Cálculo de nómina.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200525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Métricas comerciales.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514850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Rentabilidad por evento.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619500"/>
            <a:ext cx="12801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Finanzas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3619500"/>
            <a:ext cx="9001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RRHH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800" y="3619500"/>
            <a:ext cx="171271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Analítica (BI)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90775" y="3463230"/>
            <a:ext cx="2190750" cy="5524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62525" y="3463230"/>
            <a:ext cx="2295525" cy="5524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9050" y="3463230"/>
            <a:ext cx="2162175" cy="5524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43437" y="4396680"/>
            <a:ext cx="2905125" cy="5524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3242" y="1908869"/>
            <a:ext cx="1174551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Un CRM responde a quién le vendemos. </a:t>
            </a:r>
            <a:r>
              <a:t>
</a:t>
            </a:r>
            <a:r>
              <a:rPr b="1" sz="3600" i="0" u="none">
                <a:solidFill>
                  <a:srgbClr val="DEFF9A"/>
                </a:solidFill>
                <a:latin typeface="Inter"/>
              </a:rPr>
              <a:t>VPRO responde todo lo demás.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5531" y="3615630"/>
            <a:ext cx="228123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¿Qué equipo salió?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4184" y="3615630"/>
            <a:ext cx="241220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¿En qué camioneta?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7378" y="3615630"/>
            <a:ext cx="22455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¿Cuánto se gastó?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8896" y="4549080"/>
            <a:ext cx="317420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¿Cuál fue la ganancia real?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